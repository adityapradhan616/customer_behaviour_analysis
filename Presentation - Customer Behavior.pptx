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70" r:id="rId13"/>
  </p:sldIdLst>
  <p:sldSz cx="18288000" cy="10287000"/>
  <p:notesSz cx="6858000" cy="9144000"/>
  <p:embeddedFontLst>
    <p:embeddedFont>
      <p:font typeface="HK Grotesk" panose="020B0604020202020204" charset="0"/>
      <p:regular r:id="rId14"/>
    </p:embeddedFont>
    <p:embeddedFont>
      <p:font typeface="HK Grotesk Bold" panose="020B0604020202020204" charset="0"/>
      <p:regular r:id="rId15"/>
    </p:embeddedFont>
    <p:embeddedFont>
      <p:font typeface="HK Grotesk Semi-Bold" panose="020B0604020202020204" charset="0"/>
      <p:regular r:id="rId16"/>
    </p:embeddedFont>
    <p:embeddedFont>
      <p:font typeface="Noto Serif Display ExtraCondensed Light" panose="020B06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429000"/>
            <a:ext cx="12639675" cy="3429000"/>
            <a:chOff x="0" y="0"/>
            <a:chExt cx="16852900" cy="4572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180975"/>
              <a:ext cx="16852900" cy="33953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4A4A4A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Introduction to Shopping Behavior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013200"/>
              <a:ext cx="168529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Analyzing how customers make choices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038850"/>
            <a:ext cx="6886575" cy="2343150"/>
            <a:chOff x="0" y="0"/>
            <a:chExt cx="9182100" cy="3124200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Purchase Overview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193800"/>
              <a:ext cx="9182100" cy="1930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Analyzing </a:t>
              </a:r>
              <a:r>
                <a:rPr lang="en-US" sz="2400" b="1" u="none" strike="noStrike">
                  <a:solidFill>
                    <a:srgbClr val="4A4A4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3,900 purchases</a:t>
              </a:r>
              <a:r>
                <a:rPr lang="en-US" sz="2400" u="none" strike="noStrike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across various product categories helps us identify trends in consumer behavior, offering insights into what drives spending and loyalty among customers.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038850"/>
            <a:ext cx="6886575" cy="2343150"/>
            <a:chOff x="0" y="0"/>
            <a:chExt cx="9182100" cy="3124200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Goals Defined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193800"/>
              <a:ext cx="9182100" cy="1930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Our main goal is to </a:t>
              </a:r>
              <a:r>
                <a:rPr lang="en-US" sz="2400" b="1" u="none" strike="noStrike">
                  <a:solidFill>
                    <a:srgbClr val="4A4A4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gain insights</a:t>
              </a:r>
              <a:r>
                <a:rPr lang="en-US" sz="2400" u="none" strike="noStrike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into spending habits and preferences, as well as the factors that influence customer loyalty and repeat purchases in the retail space.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1562100"/>
            <a:ext cx="16954500" cy="2209800"/>
            <a:chOff x="0" y="0"/>
            <a:chExt cx="22606000" cy="2946400"/>
          </a:xfrm>
        </p:grpSpPr>
        <p:sp>
          <p:nvSpPr>
            <p:cNvPr id="9" name="TextBox 9"/>
            <p:cNvSpPr txBox="1"/>
            <p:nvPr/>
          </p:nvSpPr>
          <p:spPr>
            <a:xfrm>
              <a:off x="0" y="180975"/>
              <a:ext cx="22606000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4A4A4A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The Big Picture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387600"/>
              <a:ext cx="226060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Understanding customer shopping behavior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1562100"/>
            <a:ext cx="6886575" cy="2362200"/>
            <a:chOff x="0" y="0"/>
            <a:chExt cx="9182100" cy="3149600"/>
          </a:xfrm>
        </p:grpSpPr>
        <p:sp>
          <p:nvSpPr>
            <p:cNvPr id="3" name="TextBox 3"/>
            <p:cNvSpPr txBox="1"/>
            <p:nvPr/>
          </p:nvSpPr>
          <p:spPr>
            <a:xfrm>
              <a:off x="0" y="180975"/>
              <a:ext cx="9182100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4A4A4A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The Challenge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590800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Identifying key business struggles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9296400" y="5676900"/>
            <a:ext cx="6886575" cy="2705100"/>
            <a:chOff x="0" y="0"/>
            <a:chExt cx="9182100" cy="3606800"/>
          </a:xfrm>
        </p:grpSpPr>
        <p:sp>
          <p:nvSpPr>
            <p:cNvPr id="8" name="TextBox 8"/>
            <p:cNvSpPr txBox="1"/>
            <p:nvPr/>
          </p:nvSpPr>
          <p:spPr>
            <a:xfrm>
              <a:off x="0" y="0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Customer Segmentation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93800"/>
              <a:ext cx="9182100" cy="2413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Businesses face </a:t>
              </a:r>
              <a:r>
                <a:rPr lang="en-US" sz="2400" b="1" u="none" strike="noStrike">
                  <a:solidFill>
                    <a:srgbClr val="4A4A4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significant challenges</a:t>
              </a:r>
              <a:r>
                <a:rPr lang="en-US" sz="2400" u="none" strike="noStrike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due to unclear customer segments, leading to low subscription rates, over-reliance on discounts, and unbalanced product promotions that undermine profitability.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038850"/>
            <a:ext cx="6886575" cy="2343150"/>
            <a:chOff x="0" y="0"/>
            <a:chExt cx="9182100" cy="3124200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Missing Data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193800"/>
              <a:ext cx="9182100" cy="1930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We encountered significant challenges due to </a:t>
              </a:r>
              <a:r>
                <a:rPr lang="en-US" sz="2400" b="1" u="none" strike="noStrike">
                  <a:solidFill>
                    <a:srgbClr val="4A4A4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missing ratings</a:t>
              </a:r>
              <a:r>
                <a:rPr lang="en-US" sz="2400" u="none" strike="noStrike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in our dataset, which hindered accurate analysis and insights, prompting the need for effective imputation strategies.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038850"/>
            <a:ext cx="6886575" cy="2343150"/>
            <a:chOff x="0" y="0"/>
            <a:chExt cx="9182100" cy="3124200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Standardization Efforts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193800"/>
              <a:ext cx="9182100" cy="1930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To enhance our data integrity, we standardized columns and created new features, such as </a:t>
              </a:r>
              <a:r>
                <a:rPr lang="en-US" sz="2400" b="1" u="none" strike="noStrike">
                  <a:solidFill>
                    <a:srgbClr val="4A4A4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age groups</a:t>
              </a:r>
              <a:r>
                <a:rPr lang="en-US" sz="2400" u="none" strike="noStrike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and purchase frequency, ensuring a more robust foundation for our analysis.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1562100"/>
            <a:ext cx="16954500" cy="2209800"/>
            <a:chOff x="0" y="0"/>
            <a:chExt cx="22606000" cy="2946400"/>
          </a:xfrm>
        </p:grpSpPr>
        <p:sp>
          <p:nvSpPr>
            <p:cNvPr id="9" name="TextBox 9"/>
            <p:cNvSpPr txBox="1"/>
            <p:nvPr/>
          </p:nvSpPr>
          <p:spPr>
            <a:xfrm>
              <a:off x="0" y="180975"/>
              <a:ext cx="22606000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4A4A4A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Cleaning Up Data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387600"/>
              <a:ext cx="226060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Strategies for enhancing data quality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1562100"/>
            <a:ext cx="6886575" cy="2362200"/>
            <a:chOff x="0" y="0"/>
            <a:chExt cx="9182100" cy="3149600"/>
          </a:xfrm>
        </p:grpSpPr>
        <p:sp>
          <p:nvSpPr>
            <p:cNvPr id="3" name="TextBox 3"/>
            <p:cNvSpPr txBox="1"/>
            <p:nvPr/>
          </p:nvSpPr>
          <p:spPr>
            <a:xfrm>
              <a:off x="0" y="180975"/>
              <a:ext cx="9182100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4A4A4A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SQL Insights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590800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Analyzing key customer behaviors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9296400" y="5676900"/>
            <a:ext cx="6886575" cy="2705100"/>
            <a:chOff x="0" y="0"/>
            <a:chExt cx="9182100" cy="3606800"/>
          </a:xfrm>
        </p:grpSpPr>
        <p:sp>
          <p:nvSpPr>
            <p:cNvPr id="8" name="TextBox 8"/>
            <p:cNvSpPr txBox="1"/>
            <p:nvPr/>
          </p:nvSpPr>
          <p:spPr>
            <a:xfrm>
              <a:off x="0" y="0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Gender Spending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93800"/>
              <a:ext cx="9182100" cy="2413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Through SQL queries, we discovered significant </a:t>
              </a:r>
              <a:r>
                <a:rPr lang="en-US" sz="2400" b="1" u="none" strike="noStrike">
                  <a:solidFill>
                    <a:srgbClr val="4A4A4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differences in spending habits</a:t>
              </a:r>
              <a:r>
                <a:rPr lang="en-US" sz="2400" u="none" strike="noStrike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between genders, providing insights into tailored marketing strategies that can enhance customer engagement and boost sales.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5619750"/>
            <a:ext cx="4010025" cy="3105150"/>
            <a:chOff x="0" y="0"/>
            <a:chExt cx="5346700" cy="4140200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Spending Trends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244600"/>
              <a:ext cx="5346700" cy="289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Analysis shows that men spent significantly more than women across various product categories, revealing potential areas for targeted marketing.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5619750"/>
            <a:ext cx="4010025" cy="3133725"/>
            <a:chOff x="0" y="0"/>
            <a:chExt cx="5346700" cy="4178300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Top Products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282700"/>
              <a:ext cx="5346700" cy="289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analysis identified key top-rated products, including Gloves, Sandals, and Boots, which are popular among customers and can drive higher sales.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5619750"/>
            <a:ext cx="4010025" cy="3467100"/>
            <a:chOff x="0" y="0"/>
            <a:chExt cx="5346700" cy="4622800"/>
          </a:xfrm>
        </p:grpSpPr>
        <p:sp>
          <p:nvSpPr>
            <p:cNvPr id="9" name="TextBox 9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Subscriber Behavior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244600"/>
              <a:ext cx="5346700" cy="3378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Subscribers and users of express shipping demonstrated higher spending patterns, illustrating the importance of targeted marketing strategies for these customer segments.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1697831"/>
            <a:ext cx="16954500" cy="2089575"/>
            <a:chOff x="0" y="180975"/>
            <a:chExt cx="22606000" cy="27861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80975"/>
              <a:ext cx="22606000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4A4A4A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Key Insights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387600"/>
              <a:ext cx="22606000" cy="579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 dirty="0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Summary of major findings in SQL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1562100"/>
            <a:ext cx="6886575" cy="3581400"/>
            <a:chOff x="0" y="0"/>
            <a:chExt cx="9182100" cy="4775200"/>
          </a:xfrm>
        </p:grpSpPr>
        <p:sp>
          <p:nvSpPr>
            <p:cNvPr id="3" name="TextBox 3"/>
            <p:cNvSpPr txBox="1"/>
            <p:nvPr/>
          </p:nvSpPr>
          <p:spPr>
            <a:xfrm>
              <a:off x="0" y="180975"/>
              <a:ext cx="9182100" cy="33953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4A4A4A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The Discount Dilemma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216400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Understanding Product Pricing Strategies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9296400" y="6038850"/>
            <a:ext cx="6886575" cy="2343150"/>
            <a:chOff x="0" y="0"/>
            <a:chExt cx="9182100" cy="3124200"/>
          </a:xfrm>
        </p:grpSpPr>
        <p:sp>
          <p:nvSpPr>
            <p:cNvPr id="8" name="TextBox 8"/>
            <p:cNvSpPr txBox="1"/>
            <p:nvPr/>
          </p:nvSpPr>
          <p:spPr>
            <a:xfrm>
              <a:off x="0" y="0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Discount Dependency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93800"/>
              <a:ext cx="9182100" cy="1930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Some products are overly reliant on discounts, leading to reduced profit margins. It's essential to review and adjust discount policies to strike a balance between sales boosts and profitability.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1562100"/>
            <a:ext cx="6886575" cy="4000500"/>
            <a:chOff x="0" y="0"/>
            <a:chExt cx="9182100" cy="5334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180975"/>
              <a:ext cx="9182100" cy="33953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4A4A4A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Customer Loyalty Insights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216400"/>
              <a:ext cx="9182100" cy="111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Understanding customer retention challenges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9296400" y="5676900"/>
            <a:ext cx="6886575" cy="2705100"/>
            <a:chOff x="0" y="0"/>
            <a:chExt cx="9182100" cy="3606800"/>
          </a:xfrm>
        </p:grpSpPr>
        <p:sp>
          <p:nvSpPr>
            <p:cNvPr id="8" name="TextBox 8"/>
            <p:cNvSpPr txBox="1"/>
            <p:nvPr/>
          </p:nvSpPr>
          <p:spPr>
            <a:xfrm>
              <a:off x="0" y="0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Loyalty Challenges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93800"/>
              <a:ext cx="9182100" cy="2413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Many customers make a single purchase and do not return. Implementing effective </a:t>
              </a:r>
              <a:r>
                <a:rPr lang="en-US" sz="2400" b="1" u="none" strike="noStrike">
                  <a:solidFill>
                    <a:srgbClr val="4A4A4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loyalty programs</a:t>
              </a:r>
              <a:r>
                <a:rPr lang="en-US" sz="2400" u="none" strike="noStrike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can incentivize repeat purchases and enhance customer relationships, ultimately increasing long-term profitability.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1562100"/>
            <a:ext cx="6886575" cy="2362200"/>
            <a:chOff x="0" y="0"/>
            <a:chExt cx="9182100" cy="3149600"/>
          </a:xfrm>
        </p:grpSpPr>
        <p:sp>
          <p:nvSpPr>
            <p:cNvPr id="3" name="TextBox 3"/>
            <p:cNvSpPr txBox="1"/>
            <p:nvPr/>
          </p:nvSpPr>
          <p:spPr>
            <a:xfrm>
              <a:off x="0" y="180975"/>
              <a:ext cx="9182100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4A4A4A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Age &amp; Revenue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590800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Targeting valuable customer segments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9296400" y="6038850"/>
            <a:ext cx="6886575" cy="2343150"/>
            <a:chOff x="0" y="0"/>
            <a:chExt cx="9182100" cy="3124200"/>
          </a:xfrm>
        </p:grpSpPr>
        <p:sp>
          <p:nvSpPr>
            <p:cNvPr id="8" name="TextBox 8"/>
            <p:cNvSpPr txBox="1"/>
            <p:nvPr/>
          </p:nvSpPr>
          <p:spPr>
            <a:xfrm>
              <a:off x="0" y="0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Young Adults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93800"/>
              <a:ext cx="9182100" cy="1930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Young adults generate the </a:t>
              </a:r>
              <a:r>
                <a:rPr lang="en-US" sz="2400" b="1" u="none" strike="noStrike">
                  <a:solidFill>
                    <a:srgbClr val="4A4A4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highest revenue</a:t>
              </a:r>
              <a:r>
                <a:rPr lang="en-US" sz="2400" u="none" strike="noStrike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for the business, followed closely by middle-aged shoppers. Focusing marketing efforts on these groups can enhance engagement and drive overall sales growth.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5619750"/>
            <a:ext cx="4010025" cy="3286125"/>
            <a:chOff x="0" y="0"/>
            <a:chExt cx="5346700" cy="4381500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53467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53"/>
                </a:lnSpc>
                <a:spcBef>
                  <a:spcPct val="0"/>
                </a:spcBef>
              </a:pPr>
              <a:r>
                <a:rPr lang="en-US" sz="2461" b="1" u="none" strike="noStrike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Boost Subscriptions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171575"/>
              <a:ext cx="5346700" cy="320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5"/>
                </a:lnSpc>
                <a:spcBef>
                  <a:spcPct val="0"/>
                </a:spcBef>
              </a:pPr>
              <a:r>
                <a:rPr lang="en-US" sz="2279" u="none" strike="noStrike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Offering exclusive perks can significantly increase subscriptions, making customers feel valued and encouraging recurring purchases that enhance overall revenue and customer loyalty.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5619750"/>
            <a:ext cx="4010025" cy="2971800"/>
            <a:chOff x="0" y="0"/>
            <a:chExt cx="5346700" cy="3962400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53467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53"/>
                </a:lnSpc>
                <a:spcBef>
                  <a:spcPct val="0"/>
                </a:spcBef>
              </a:pPr>
              <a:r>
                <a:rPr lang="en-US" sz="2461" b="1" u="none" strike="noStrike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Reward Loyalty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209675"/>
              <a:ext cx="5346700" cy="2752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5"/>
                </a:lnSpc>
                <a:spcBef>
                  <a:spcPct val="0"/>
                </a:spcBef>
              </a:pPr>
              <a:r>
                <a:rPr lang="en-US" sz="2279" u="none" strike="noStrike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Implementing a loyalty program will incentivize repeat purchases, ensuring that customers return to shop again and fostering a stronger relationship with the brand.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5619750"/>
            <a:ext cx="4010025" cy="3286125"/>
            <a:chOff x="0" y="0"/>
            <a:chExt cx="5346700" cy="4381500"/>
          </a:xfrm>
        </p:grpSpPr>
        <p:sp>
          <p:nvSpPr>
            <p:cNvPr id="9" name="TextBox 9"/>
            <p:cNvSpPr txBox="1"/>
            <p:nvPr/>
          </p:nvSpPr>
          <p:spPr>
            <a:xfrm>
              <a:off x="0" y="0"/>
              <a:ext cx="53467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53"/>
                </a:lnSpc>
                <a:spcBef>
                  <a:spcPct val="0"/>
                </a:spcBef>
              </a:pPr>
              <a:r>
                <a:rPr lang="en-US" sz="2461" b="1" u="none" strike="noStrike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Promote Top-Rated Products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171575"/>
              <a:ext cx="5346700" cy="320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5"/>
                </a:lnSpc>
                <a:spcBef>
                  <a:spcPct val="0"/>
                </a:spcBef>
              </a:pPr>
              <a:r>
                <a:rPr lang="en-US" sz="2279" u="none" strike="noStrike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Highlighting top-rated products in marketing efforts can improve sales, as they reassure customers about the quality and satisfaction associated with their purchases, driving informed decisions.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1562100"/>
            <a:ext cx="16954500" cy="2162175"/>
            <a:chOff x="0" y="0"/>
            <a:chExt cx="22606000" cy="28829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80975"/>
              <a:ext cx="22606000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4A4A4A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Key Insights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387600"/>
              <a:ext cx="22606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53"/>
                </a:lnSpc>
              </a:pPr>
              <a:r>
                <a:rPr lang="en-US" sz="2461" b="1" u="none" strike="noStrike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Essential strategies for business growth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1562100"/>
            <a:ext cx="6886575" cy="2362200"/>
            <a:chOff x="0" y="0"/>
            <a:chExt cx="9182100" cy="3149600"/>
          </a:xfrm>
        </p:grpSpPr>
        <p:sp>
          <p:nvSpPr>
            <p:cNvPr id="3" name="TextBox 3"/>
            <p:cNvSpPr txBox="1"/>
            <p:nvPr/>
          </p:nvSpPr>
          <p:spPr>
            <a:xfrm>
              <a:off x="0" y="180975"/>
              <a:ext cx="9182100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4A4A4A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The Big Win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590800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Understanding customer behavior benefits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9296400" y="5676900"/>
            <a:ext cx="6886575" cy="2705100"/>
            <a:chOff x="0" y="0"/>
            <a:chExt cx="9182100" cy="3606800"/>
          </a:xfrm>
        </p:grpSpPr>
        <p:sp>
          <p:nvSpPr>
            <p:cNvPr id="8" name="TextBox 8"/>
            <p:cNvSpPr txBox="1"/>
            <p:nvPr/>
          </p:nvSpPr>
          <p:spPr>
            <a:xfrm>
              <a:off x="0" y="0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Customer Retention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93800"/>
              <a:ext cx="9182100" cy="2413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By understanding customer behavior, businesses can achieve </a:t>
              </a:r>
              <a:r>
                <a:rPr lang="en-US" sz="2400" b="1" u="none" strike="noStrike">
                  <a:solidFill>
                    <a:srgbClr val="4A4A4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increased retention</a:t>
              </a:r>
              <a:r>
                <a:rPr lang="en-US" sz="2400" u="none" strike="noStrike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rates, leading to improved profits and more effective marketing campaigns that resonate with target audiences. Engage your customers smarter.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4038600"/>
            <a:ext cx="12639675" cy="2209800"/>
            <a:chOff x="0" y="0"/>
            <a:chExt cx="16852900" cy="2946400"/>
          </a:xfrm>
        </p:grpSpPr>
        <p:sp>
          <p:nvSpPr>
            <p:cNvPr id="3" name="TextBox 3"/>
            <p:cNvSpPr txBox="1"/>
            <p:nvPr/>
          </p:nvSpPr>
          <p:spPr>
            <a:xfrm>
              <a:off x="0" y="180975"/>
              <a:ext cx="16852900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4A4A4A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Thanks for joining!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387600"/>
              <a:ext cx="168529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Encouragement to shop smarter, not harder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565</Words>
  <Application>Microsoft Office PowerPoint</Application>
  <PresentationFormat>Custom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Calibri</vt:lpstr>
      <vt:lpstr>HK Grotesk Bold</vt:lpstr>
      <vt:lpstr>Arial</vt:lpstr>
      <vt:lpstr>HK Grotesk Semi-Bold</vt:lpstr>
      <vt:lpstr>Noto Serif Display ExtraCondensed Light</vt:lpstr>
      <vt:lpstr>HK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Introduction to Shopping Behavior</dc:title>
  <dc:description>Presentation - Introduction to Shopping Behavior</dc:description>
  <cp:lastModifiedBy>Aditya Pradhan</cp:lastModifiedBy>
  <cp:revision>2</cp:revision>
  <dcterms:created xsi:type="dcterms:W3CDTF">2006-08-16T00:00:00Z</dcterms:created>
  <dcterms:modified xsi:type="dcterms:W3CDTF">2025-12-30T17:29:59Z</dcterms:modified>
  <dc:identifier>DAG9AfqfcIc</dc:identifier>
</cp:coreProperties>
</file>